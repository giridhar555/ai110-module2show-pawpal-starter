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128016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08576"/>
            <a:ext cx="12191695" cy="6400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371600"/>
            <a:ext cx="1097280" cy="109728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400"/>
              <a:t>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PawPal+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200" b="0">
                <a:solidFill>
                  <a:srgbClr val="E3ECEF"/>
                </a:solidFill>
                <a:latin typeface="Calibri"/>
              </a:rPr>
              <a:t>An Applied AI Pet-Care Planner with knowledge-based prioritization,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200" b="0">
                <a:solidFill>
                  <a:srgbClr val="E3ECEF"/>
                </a:solidFill>
                <a:latin typeface="Calibri"/>
              </a:rPr>
              <a:t>traceable reasoning, and confidence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8F93"/>
                </a:solidFill>
                <a:latin typeface="Calibri"/>
              </a:rPr>
              <a:t>Extended from the Module 2 pet-scheduling starter  ·  Built by Giridhar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8016" cy="5669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42A3F"/>
                </a:solidFill>
                <a:latin typeface="Calibri"/>
              </a:rPr>
              <a:t>The Problem</a:t>
            </a:r>
          </a:p>
        </p:txBody>
      </p:sp>
      <p:sp>
        <p:nvSpPr>
          <p:cNvPr id="6" name="Oval 5"/>
          <p:cNvSpPr/>
          <p:nvPr/>
        </p:nvSpPr>
        <p:spPr>
          <a:xfrm>
            <a:off x="11231575" y="411480"/>
            <a:ext cx="502920" cy="50292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PawPal+  ·  Applied AI Pet-Care 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 b="1">
                <a:solidFill>
                  <a:srgbClr val="F28C28"/>
                </a:solidFill>
              </a:rPr>
              <a:t>▸  </a:t>
            </a:r>
            <a:r>
              <a:rPr sz="2000" b="0">
                <a:solidFill>
                  <a:srgbClr val="23333D"/>
                </a:solidFill>
              </a:rPr>
              <a:t>Pet owners juggle many daily care tasks across multiple pets.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 b="1">
                <a:solidFill>
                  <a:srgbClr val="F28C28"/>
                </a:solidFill>
              </a:rPr>
              <a:t>▸  </a:t>
            </a:r>
            <a:r>
              <a:rPr sz="2000" b="0">
                <a:solidFill>
                  <a:srgbClr val="23333D"/>
                </a:solidFill>
              </a:rPr>
              <a:t>Safety-critical routines — medication, feeding, exercise — are easy to miss.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 b="1">
                <a:solidFill>
                  <a:srgbClr val="F28C28"/>
                </a:solidFill>
              </a:rPr>
              <a:t>▸  </a:t>
            </a:r>
            <a:r>
              <a:rPr sz="2000" b="0">
                <a:solidFill>
                  <a:srgbClr val="23333D"/>
                </a:solidFill>
              </a:rPr>
              <a:t>Most tools give a schedule but never explain WHY a plan was chosen…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 b="1">
                <a:solidFill>
                  <a:srgbClr val="F28C28"/>
                </a:solidFill>
              </a:rPr>
              <a:t>▸  </a:t>
            </a:r>
            <a:r>
              <a:rPr sz="2000" b="0">
                <a:solidFill>
                  <a:srgbClr val="23333D"/>
                </a:solidFill>
              </a:rPr>
              <a:t>…or HOW confident the system is that the plan is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737360"/>
            <a:ext cx="3749039" cy="4023360"/>
          </a:xfrm>
          <a:prstGeom prst="rect">
            <a:avLst/>
          </a:prstGeom>
          <a:solidFill>
            <a:srgbClr val="E3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0" y="1737360"/>
            <a:ext cx="3749039" cy="82296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938528"/>
            <a:ext cx="3291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The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395728"/>
            <a:ext cx="3291839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A scheduler that is not just automatic, but transparent and trustworthy — one that prioritizes what matters for a pet's health and shows its reasoning.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8016" cy="5669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42A3F"/>
                </a:solidFill>
                <a:latin typeface="Calibri"/>
              </a:rPr>
              <a:t>The Solution</a:t>
            </a:r>
          </a:p>
        </p:txBody>
      </p:sp>
      <p:sp>
        <p:nvSpPr>
          <p:cNvPr id="6" name="Oval 5"/>
          <p:cNvSpPr/>
          <p:nvPr/>
        </p:nvSpPr>
        <p:spPr>
          <a:xfrm>
            <a:off x="11231575" y="411480"/>
            <a:ext cx="502920" cy="50292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PawPal+  ·  Applied AI Pet-Care 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6766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900" b="1">
                <a:solidFill>
                  <a:srgbClr val="F28C28"/>
                </a:solidFill>
              </a:rPr>
              <a:t>▸  </a:t>
            </a:r>
            <a:r>
              <a:rPr sz="1900" b="0">
                <a:solidFill>
                  <a:srgbClr val="23333D"/>
                </a:solidFill>
              </a:rPr>
              <a:t>A Streamlit app that collects owner, pet, and task details.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900" b="1">
                <a:solidFill>
                  <a:srgbClr val="F28C28"/>
                </a:solidFill>
              </a:rPr>
              <a:t>▸  </a:t>
            </a:r>
            <a:r>
              <a:rPr sz="1900" b="0">
                <a:solidFill>
                  <a:srgbClr val="23333D"/>
                </a:solidFill>
              </a:rPr>
              <a:t>Builds a daily plan from priority, preferred time, and available minutes.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900" b="1">
                <a:solidFill>
                  <a:srgbClr val="F28C28"/>
                </a:solidFill>
              </a:rPr>
              <a:t>▸  </a:t>
            </a:r>
            <a:r>
              <a:rPr sz="1900" b="0">
                <a:solidFill>
                  <a:srgbClr val="23333D"/>
                </a:solidFill>
              </a:rPr>
              <a:t>An AI planner guides scheduling using pet-care category knowledge.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900" b="1">
                <a:solidFill>
                  <a:srgbClr val="F28C28"/>
                </a:solidFill>
              </a:rPr>
              <a:t>▸  </a:t>
            </a:r>
            <a:r>
              <a:rPr sz="1900" b="0">
                <a:solidFill>
                  <a:srgbClr val="23333D"/>
                </a:solidFill>
              </a:rPr>
              <a:t>Every decision is logged in a reasoning trace with a confidence score.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737360"/>
            <a:ext cx="3749039" cy="1920240"/>
          </a:xfrm>
          <a:prstGeom prst="rect">
            <a:avLst/>
          </a:prstGeom>
          <a:solidFill>
            <a:srgbClr val="E3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0" y="1737360"/>
            <a:ext cx="3749039" cy="82296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938528"/>
            <a:ext cx="3291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395728"/>
            <a:ext cx="32918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Owner availability, pets, and care tasks (title, duration, priority, category, preferred time).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840480"/>
            <a:ext cx="3749039" cy="1920240"/>
          </a:xfrm>
          <a:prstGeom prst="rect">
            <a:avLst/>
          </a:prstGeom>
          <a:solidFill>
            <a:srgbClr val="E3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3840480"/>
            <a:ext cx="3749039" cy="82296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4041648"/>
            <a:ext cx="3291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498848"/>
            <a:ext cx="32918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An ordered daily plan + skipped tasks, conflict warnings, confidence score, and full planner trace.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8016" cy="5669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42A3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Oval 5"/>
          <p:cNvSpPr/>
          <p:nvPr/>
        </p:nvSpPr>
        <p:spPr>
          <a:xfrm>
            <a:off x="11231575" y="411480"/>
            <a:ext cx="502920" cy="50292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PawPal+  ·  Applied AI Pet-Care Planner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2103120" cy="868680"/>
          </a:xfrm>
          <a:prstGeom prst="round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User / Owner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enters pets &amp; tasks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2377440"/>
            <a:ext cx="502920" cy="320040"/>
          </a:xfrm>
          <a:prstGeom prst="rightArrow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60" y="2103120"/>
            <a:ext cx="2103120" cy="868680"/>
          </a:xfrm>
          <a:prstGeom prst="round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Streamlit UI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app.py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2377440"/>
            <a:ext cx="502920" cy="320040"/>
          </a:xfrm>
          <a:prstGeom prst="rightArrow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2103120"/>
            <a:ext cx="2286000" cy="86868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PetCarePlanner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boosts · trace · confidence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412480" y="2377440"/>
            <a:ext cx="502920" cy="320040"/>
          </a:xfrm>
          <a:prstGeom prst="rightArrow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0" y="2103120"/>
            <a:ext cx="2468880" cy="868680"/>
          </a:xfrm>
          <a:prstGeom prst="round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Scheduler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ordering · slot 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749039"/>
            <a:ext cx="2286000" cy="868680"/>
          </a:xfrm>
          <a:prstGeom prst="round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CareKnowledgeBase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category guidance (RAG-style)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3749039"/>
            <a:ext cx="2468880" cy="868680"/>
          </a:xfrm>
          <a:prstGeom prst="round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DailyPlan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scheduled + skipped 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3749039"/>
            <a:ext cx="2103120" cy="86868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Automated Tests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reliability checks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2971800"/>
            <a:ext cx="36576" cy="594360"/>
          </a:xfrm>
          <a:prstGeom prst="rect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0" y="2971800"/>
            <a:ext cx="36576" cy="594360"/>
          </a:xfrm>
          <a:prstGeom prst="rect">
            <a:avLst/>
          </a:prstGeom>
          <a:solidFill>
            <a:srgbClr val="5C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C6B73"/>
                </a:solidFill>
                <a:latin typeface="Calibri"/>
              </a:rPr>
              <a:t>Data flow:  input → knowledge retrieval → priority boost → plan build → conflict check → confidence.  Tests verify planner and scheduler behavior.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48F93"/>
                </a:solidFill>
                <a:latin typeface="Calibri"/>
              </a:rPr>
              <a:t>Source: diagrams/system_architecture.mmd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8016" cy="5669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THE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42A3F"/>
                </a:solidFill>
                <a:latin typeface="Calibri"/>
              </a:rPr>
              <a:t>AI Features</a:t>
            </a:r>
          </a:p>
        </p:txBody>
      </p:sp>
      <p:sp>
        <p:nvSpPr>
          <p:cNvPr id="6" name="Oval 5"/>
          <p:cNvSpPr/>
          <p:nvPr/>
        </p:nvSpPr>
        <p:spPr>
          <a:xfrm>
            <a:off x="11231575" y="411480"/>
            <a:ext cx="502920" cy="50292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PawPal+  ·  Applied AI Pet-Care Planner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5394960" cy="1965960"/>
          </a:xfrm>
          <a:prstGeom prst="rect">
            <a:avLst/>
          </a:prstGeom>
          <a:solidFill>
            <a:srgbClr val="E3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691640"/>
            <a:ext cx="5394960" cy="82296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92808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Retrieval (RAG-style)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50008"/>
            <a:ext cx="49377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CareKnowledgeBase returns category guidance for each task before the plan is built — retrieval actively drives the priority boost.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691640"/>
            <a:ext cx="5394960" cy="1965960"/>
          </a:xfrm>
          <a:prstGeom prst="rect">
            <a:avLst/>
          </a:prstGeom>
          <a:solidFill>
            <a:srgbClr val="E3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691640"/>
            <a:ext cx="5394960" cy="82296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92808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Knowledge-based boosts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50008"/>
            <a:ext cx="49377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Medication (1.0) › Feeding (0.7) › Walk (0.5) › Grooming (0.3) reorder tasks so safety-critical care comes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40480"/>
            <a:ext cx="5394960" cy="1965960"/>
          </a:xfrm>
          <a:prstGeom prst="rect">
            <a:avLst/>
          </a:prstGeom>
          <a:solidFill>
            <a:srgbClr val="E3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40480"/>
            <a:ext cx="5394960" cy="82296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041648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Agentic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98848"/>
            <a:ext cx="49377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Plan → act → check → resolve: detects same-start conflicts and runs a resolution pass that re-prioritizes medication.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840480"/>
            <a:ext cx="5394960" cy="1965960"/>
          </a:xfrm>
          <a:prstGeom prst="rect">
            <a:avLst/>
          </a:prstGeom>
          <a:solidFill>
            <a:srgbClr val="E3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840480"/>
            <a:ext cx="5394960" cy="82296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041648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Trace + confidence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498848"/>
            <a:ext cx="49377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C6B73"/>
                </a:solidFill>
                <a:latin typeface="Calibri"/>
              </a:rPr>
              <a:t>Every step is logged to an auditable trace, and a 0–1 confidence score reflects schedule coverage and remaining conflicts.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8016" cy="5669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PROVING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42A3F"/>
                </a:solidFill>
                <a:latin typeface="Calibri"/>
              </a:rPr>
              <a:t>Reliability &amp; Testing</a:t>
            </a:r>
          </a:p>
        </p:txBody>
      </p:sp>
      <p:sp>
        <p:nvSpPr>
          <p:cNvPr id="6" name="Oval 5"/>
          <p:cNvSpPr/>
          <p:nvPr/>
        </p:nvSpPr>
        <p:spPr>
          <a:xfrm>
            <a:off x="11231575" y="411480"/>
            <a:ext cx="502920" cy="50292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PawPal+  ·  Applied AI Pet-Care Planner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2377440" cy="1737360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11/11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automated tests 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737360"/>
            <a:ext cx="2377440" cy="173736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92024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confidence on feasible plans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2377440" cy="173736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192024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288036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human-eval cases reviewed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F28C28"/>
                </a:solidFill>
              </a:rPr>
              <a:t>▸  </a:t>
            </a:r>
            <a:r>
              <a:rPr sz="1600" b="0">
                <a:solidFill>
                  <a:srgbClr val="23333D"/>
                </a:solidFill>
              </a:rPr>
              <a:t>pytest covers planner boosts, scheduling feasibility, conflict detection &amp; skips.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F28C28"/>
                </a:solidFill>
              </a:rPr>
              <a:t>▸  </a:t>
            </a:r>
            <a:r>
              <a:rPr sz="1600" b="0">
                <a:solidFill>
                  <a:srgbClr val="23333D"/>
                </a:solidFill>
              </a:rPr>
              <a:t>Confidence drops automatically when a task can't fit the available time.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F28C28"/>
                </a:solidFill>
              </a:rPr>
              <a:t>▸  </a:t>
            </a:r>
            <a:r>
              <a:rPr sz="1600" b="0">
                <a:solidFill>
                  <a:srgbClr val="23333D"/>
                </a:solidFill>
              </a:rPr>
              <a:t>Guardrails: empty pet name and no-task cases are handled without crashing.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F28C28"/>
                </a:solidFill>
              </a:rPr>
              <a:t>▸  </a:t>
            </a:r>
            <a:r>
              <a:rPr sz="1600" b="0">
                <a:solidFill>
                  <a:srgbClr val="23333D"/>
                </a:solidFill>
              </a:rPr>
              <a:t>Human-eval table documented in README (parseable markdown).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8016" cy="5669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SEE IT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42A3F"/>
                </a:solidFill>
                <a:latin typeface="Calibri"/>
              </a:rPr>
              <a:t>Demo — Sample Output</a:t>
            </a:r>
          </a:p>
        </p:txBody>
      </p:sp>
      <p:sp>
        <p:nvSpPr>
          <p:cNvPr id="6" name="Oval 5"/>
          <p:cNvSpPr/>
          <p:nvPr/>
        </p:nvSpPr>
        <p:spPr>
          <a:xfrm>
            <a:off x="11231575" y="411480"/>
            <a:ext cx="502920" cy="50292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PawPal+  ·  Applied AI Pet-Care Planner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91640"/>
            <a:ext cx="10881360" cy="4206240"/>
          </a:xfrm>
          <a:prstGeom prst="round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881360" cy="457200"/>
          </a:xfrm>
          <a:prstGeom prst="roundRect">
            <a:avLst/>
          </a:prstGeom>
          <a:solidFill>
            <a:srgbClr val="0C1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48F93"/>
                </a:solidFill>
                <a:latin typeface="Calibri"/>
              </a:rPr>
              <a:t>$ python main.py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0332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Today's Schedule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====================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08:00 — Medication (15 min, high priority)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08:15 — Morning walk (30 min, high priority)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08:45 — Brushing (12 min, medium priority)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09:00 — Feeding (10 min, high priority)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Planner confidence: 1.00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E3ECEF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8FE0E2"/>
                </a:solidFill>
                <a:latin typeface="Consolas"/>
              </a:rPr>
              <a:t>- Retrieved guidance for 'Medication' (medication)…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8FE0E2"/>
                </a:solidFill>
                <a:latin typeface="Consolas"/>
              </a:rPr>
              <a:t>- Applied knowledge boost of 1.0 to 'Medication'.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8FE0E2"/>
                </a:solidFill>
                <a:latin typeface="Consolas"/>
              </a:rPr>
              <a:t>- Built initial plan: 4 scheduled, 0 skipped.</a:t>
            </a:r>
          </a:p>
          <a:p>
            <a:pPr>
              <a:spcAft>
                <a:spcPts val="100"/>
              </a:spcAft>
            </a:pPr>
            <a:r>
              <a:rPr sz="1250">
                <a:solidFill>
                  <a:srgbClr val="8FE0E2"/>
                </a:solidFill>
                <a:latin typeface="Consolas"/>
              </a:rPr>
              <a:t>- No conflicts detected.  Final confidence: 1.00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8016" cy="5669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42A3F"/>
                </a:solidFill>
                <a:latin typeface="Calibri"/>
              </a:rPr>
              <a:t>Lessons &amp; Responsible AI</a:t>
            </a:r>
          </a:p>
        </p:txBody>
      </p:sp>
      <p:sp>
        <p:nvSpPr>
          <p:cNvPr id="6" name="Oval 5"/>
          <p:cNvSpPr/>
          <p:nvPr/>
        </p:nvSpPr>
        <p:spPr>
          <a:xfrm>
            <a:off x="11231575" y="411480"/>
            <a:ext cx="502920" cy="50292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PawPal+  ·  Applied AI Pet-Care 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F28C28"/>
                </a:solidFill>
              </a:rPr>
              <a:t>▸  </a:t>
            </a:r>
            <a:r>
              <a:rPr sz="1800" b="0">
                <a:solidFill>
                  <a:srgbClr val="23333D"/>
                </a:solidFill>
              </a:rPr>
              <a:t>A tiny knowledge base + category boosts improved plans with no external model.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F28C28"/>
                </a:solidFill>
              </a:rPr>
              <a:t>▸  </a:t>
            </a:r>
            <a:r>
              <a:rPr sz="1800" b="0">
                <a:solidFill>
                  <a:srgbClr val="23333D"/>
                </a:solidFill>
              </a:rPr>
              <a:t>Trace logging made a deterministic system feel far more trustworthy.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F28C28"/>
                </a:solidFill>
              </a:rPr>
              <a:t>▸  </a:t>
            </a:r>
            <a:r>
              <a:rPr sz="1800" b="0">
                <a:solidFill>
                  <a:srgbClr val="23333D"/>
                </a:solidFill>
              </a:rPr>
              <a:t>Helpful AI moment: clean class design for the scheduler and task model.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F28C28"/>
                </a:solidFill>
              </a:rPr>
              <a:t>▸  </a:t>
            </a:r>
            <a:r>
              <a:rPr sz="1800" b="0">
                <a:solidFill>
                  <a:srgbClr val="23333D"/>
                </a:solidFill>
              </a:rPr>
              <a:t>Flawed AI moment: proposed conflict detection on exact start-times only — missed overlaps; corrected with slot-based checks + a resolution pass.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F28C28"/>
                </a:solidFill>
              </a:rPr>
              <a:t>▸  </a:t>
            </a:r>
            <a:r>
              <a:rPr sz="1800" b="0">
                <a:solidFill>
                  <a:srgbClr val="23333D"/>
                </a:solidFill>
              </a:rPr>
              <a:t>Known limit: categories are user-supplied, so a mislabel can misdirect a boost.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Full responsible-AI reflection in model_card.md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28016" cy="5669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"/>
            <a:ext cx="9601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8F93"/>
                </a:solidFill>
                <a:latin typeface="Calibri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42A3F"/>
                </a:solidFill>
                <a:latin typeface="Calibri"/>
              </a:rPr>
              <a:t>Repository &amp; Files</a:t>
            </a:r>
          </a:p>
        </p:txBody>
      </p:sp>
      <p:sp>
        <p:nvSpPr>
          <p:cNvPr id="6" name="Oval 5"/>
          <p:cNvSpPr/>
          <p:nvPr/>
        </p:nvSpPr>
        <p:spPr>
          <a:xfrm>
            <a:off x="11231575" y="411480"/>
            <a:ext cx="502920" cy="502920"/>
          </a:xfrm>
          <a:prstGeom prst="ellipse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PawPal+  ·  Applied AI Pet-Care Planner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146304" cy="4572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19072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README.md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719072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C6B73"/>
                </a:solidFill>
                <a:latin typeface="Calibri"/>
              </a:rPr>
              <a:t>project overview, setup, samples, testing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04288"/>
            <a:ext cx="146304" cy="4572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86000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model_card.md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286000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C6B73"/>
                </a:solidFill>
                <a:latin typeface="Calibri"/>
              </a:rPr>
              <a:t>responsible-AI reflection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71216"/>
            <a:ext cx="146304" cy="4572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852928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pawpal_system.py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2852928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C6B73"/>
                </a:solidFill>
                <a:latin typeface="Calibri"/>
              </a:rPr>
              <a:t>model, scheduler, knowledge base, planner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146304" cy="4572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19856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app.py  ·  main.py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419856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C6B73"/>
                </a:solidFill>
                <a:latin typeface="Calibri"/>
              </a:rPr>
              <a:t>Streamlit UI &amp; CLI demo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05072"/>
            <a:ext cx="146304" cy="4572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86784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tests/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986784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C6B73"/>
                </a:solidFill>
                <a:latin typeface="Calibri"/>
              </a:rPr>
              <a:t>11 automated reliability checks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572000"/>
            <a:ext cx="146304" cy="4572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53712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diagrams/system_architecture.mmd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553712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C6B73"/>
                </a:solidFill>
                <a:latin typeface="Calibri"/>
              </a:rPr>
              <a:t>architecture source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138928"/>
            <a:ext cx="146304" cy="4572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120640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A3F"/>
                </a:solidFill>
                <a:latin typeface="Calibri"/>
              </a:rPr>
              <a:t>ai_interactions.md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5120640"/>
            <a:ext cx="5852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C6B73"/>
                </a:solidFill>
                <a:latin typeface="Calibri"/>
              </a:rPr>
              <a:t>agentic reasoning traces (stretch)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8F93"/>
                </a:solidFill>
                <a:latin typeface="Calibri"/>
              </a:rPr>
              <a:t>github.com/Giridhar555/ai110-module2show-pawpal-starter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109728"/>
          </a:xfrm>
          <a:prstGeom prst="rect">
            <a:avLst/>
          </a:prstGeom>
          <a:solidFill>
            <a:srgbClr val="148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72968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103120"/>
            <a:ext cx="121916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Calibri"/>
              </a:rPr>
              <a:t>Thank you  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E3ECE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8F93"/>
                </a:solidFill>
                <a:latin typeface="Calibri"/>
              </a:rPr>
              <a:t>PawPal+  ·  Applied AI Pet-Care Planner  ·  Built by Giridhar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